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Protocole</a:t>
            </a:r>
            <a:r>
              <a:rPr/>
              <a:t> </a:t>
            </a:r>
            <a:r>
              <a:rPr/>
              <a:t>S-CUP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Protocole de Sécurité pour l’Auto-reconfiguration par Clustering</a:t>
            </a:r>
          </a:p>
          <a:p>
            <a:pPr lvl="0" marL="0" indent="0">
              <a:buNone/>
            </a:pPr>
            <a:r>
              <a:rPr b="1"/>
              <a:t>Implémentation pour les Robots Modulaires Catoms3D</a:t>
            </a:r>
          </a:p>
          <a:p>
            <a:pPr lvl="0" marL="0" indent="0">
              <a:buNone/>
            </a:pPr>
            <a:r>
              <a:rPr/>
              <a:t>Basé sur l’article WINCOM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Introduction &amp; Contexte</a:t>
            </a:r>
          </a:p>
          <a:p>
            <a:pPr lvl="1">
              <a:buAutoNum type="arabicPeriod"/>
            </a:pPr>
            <a:r>
              <a:rPr/>
              <a:t>Vue d’ensemble du protocole</a:t>
            </a:r>
          </a:p>
          <a:p>
            <a:pPr lvl="1">
              <a:buAutoNum type="arabicPeriod"/>
            </a:pPr>
            <a:r>
              <a:rPr/>
              <a:t>Primitives cryptographiques</a:t>
            </a:r>
          </a:p>
          <a:p>
            <a:pPr lvl="1">
              <a:buAutoNum type="arabicPeriod"/>
            </a:pPr>
            <a:r>
              <a:rPr/>
              <a:t>Architecture en trois phases</a:t>
            </a:r>
          </a:p>
          <a:p>
            <a:pPr lvl="1">
              <a:buAutoNum type="arabicPeriod"/>
            </a:pPr>
            <a:r>
              <a:rPr/>
              <a:t>Algorithme 1 : Authentification mutuelle</a:t>
            </a:r>
          </a:p>
          <a:p>
            <a:pPr lvl="1">
              <a:buAutoNum type="arabicPeriod"/>
            </a:pPr>
            <a:r>
              <a:rPr/>
              <a:t>Gestion des clusters</a:t>
            </a:r>
          </a:p>
          <a:p>
            <a:pPr lvl="1">
              <a:buAutoNum type="arabicPeriod"/>
            </a:pPr>
            <a:r>
              <a:rPr/>
              <a:t>Détails d’implémentation</a:t>
            </a:r>
          </a:p>
          <a:p>
            <a:pPr lvl="1">
              <a:buAutoNum type="arabicPeriod"/>
            </a:pPr>
            <a:r>
              <a:rPr/>
              <a:t>Performance &amp; Statistiques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1.</a:t>
            </a:r>
            <a:r>
              <a:rPr/>
              <a:t> </a:t>
            </a: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Qu’est-ce que S-CUP ?</a:t>
            </a:r>
          </a:p>
          <a:p>
            <a:pPr lvl="0" marL="0" indent="0">
              <a:buNone/>
            </a:pPr>
            <a:r>
              <a:rPr b="1"/>
              <a:t>S-CUP</a:t>
            </a:r>
            <a:r>
              <a:rPr/>
              <a:t> = </a:t>
            </a:r>
            <a:r>
              <a:rPr b="1"/>
              <a:t>S</a:t>
            </a:r>
            <a:r>
              <a:rPr/>
              <a:t>ecurity Protocol for Self-reconfiguration by </a:t>
            </a:r>
            <a:r>
              <a:rPr b="1"/>
              <a:t>C</a:t>
            </a:r>
            <a:r>
              <a:rPr/>
              <a:t>l</a:t>
            </a:r>
            <a:r>
              <a:rPr b="1"/>
              <a:t>u</a:t>
            </a:r>
            <a:r>
              <a:rPr/>
              <a:t>stering on </a:t>
            </a:r>
            <a:r>
              <a:rPr b="1"/>
              <a:t>P</a:t>
            </a:r>
            <a:r>
              <a:rPr/>
              <a:t>rogrammable Matter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Objectifs clés :</a:t>
            </a:r>
          </a:p>
          <a:p>
            <a:pPr lvl="1"/>
            <a:r>
              <a:rPr/>
              <a:t>✅ Authentification sécurisée entre robots modulaires</a:t>
            </a:r>
          </a:p>
          <a:p>
            <a:pPr lvl="1"/>
            <a:r>
              <a:rPr/>
              <a:t>✅ Cryptographie légère (appareils à ressources limitées)</a:t>
            </a:r>
          </a:p>
          <a:p>
            <a:pPr lvl="1"/>
            <a:r>
              <a:rPr/>
              <a:t>✅ Synchronisation temporelle avec tolérance</a:t>
            </a:r>
          </a:p>
          <a:p>
            <a:pPr lvl="1"/>
            <a:r>
              <a:rPr/>
              <a:t>✅ Preuve d’exécution de code identique</a:t>
            </a:r>
          </a:p>
          <a:p>
            <a:pPr lvl="1"/>
            <a:r>
              <a:rPr/>
              <a:t>✅ Organisation basée sur les clusters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2.</a:t>
            </a:r>
            <a:r>
              <a:rPr/>
              <a:t> </a:t>
            </a:r>
            <a:r>
              <a:rPr/>
              <a:t>Vue</a:t>
            </a:r>
            <a:r>
              <a:rPr/>
              <a:t> </a:t>
            </a:r>
            <a:r>
              <a:rPr/>
              <a:t>d’ensemble</a:t>
            </a:r>
            <a:r>
              <a:rPr/>
              <a:t> </a:t>
            </a:r>
            <a:r>
              <a:rPr/>
              <a:t>du</a:t>
            </a:r>
            <a:r>
              <a:rPr/>
              <a:t> </a:t>
            </a:r>
            <a:r>
              <a:rPr/>
              <a:t>protocole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Composants de l’architecture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┌─────────────────────────────────────────┐
│  Réseau de Robots Modulaires Catoms3D   │
├─────────────────────────────────────────┤
│  Phase 1 : Formation du squelette (CHs) │
│  Phase 2 : Formation des clusters (CMs) │
│  Phase 3 : Opérationnel (Inter-cluster) │
└─────────────────────────────────────────┘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Rôles des modules :</a:t>
            </a:r>
          </a:p>
          <a:p>
            <a:pPr lvl="1"/>
            <a:r>
              <a:rPr b="1"/>
              <a:t>iCH</a:t>
            </a:r>
            <a:r>
              <a:rPr/>
              <a:t> (Initial Cluster Head) - Module 1</a:t>
            </a:r>
          </a:p>
          <a:p>
            <a:pPr lvl="1"/>
            <a:r>
              <a:rPr b="1"/>
              <a:t>CH</a:t>
            </a:r>
            <a:r>
              <a:rPr/>
              <a:t> (Cluster Head) - Leaders des clusters</a:t>
            </a:r>
          </a:p>
          <a:p>
            <a:pPr lvl="1"/>
            <a:r>
              <a:rPr b="1"/>
              <a:t>CM</a:t>
            </a:r>
            <a:r>
              <a:rPr/>
              <a:t> (Cluster Member) - Membres réguliers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3.</a:t>
            </a:r>
            <a:r>
              <a:rPr/>
              <a:t> </a:t>
            </a:r>
            <a:r>
              <a:rPr/>
              <a:t>Primitives</a:t>
            </a:r>
            <a:r>
              <a:rPr/>
              <a:t> </a:t>
            </a:r>
            <a:r>
              <a:rPr/>
              <a:t>cryptographiques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Fonction de hachage SPONGENT-160</a:t>
            </a:r>
          </a:p>
          <a:p>
            <a:pPr lvl="0" indent="0">
              <a:buNone/>
            </a:pPr>
            <a:r>
              <a:rPr>
                <a:latin typeface="Courier"/>
              </a:rPr>
              <a:t>H(data) → </a:t>
            </a:r>
            <a:r>
              <a:rPr>
                <a:solidFill>
                  <a:srgbClr val="40A070"/>
                </a:solidFill>
                <a:latin typeface="Courier"/>
              </a:rPr>
              <a:t>160</a:t>
            </a:r>
            <a:r>
              <a:rPr>
                <a:latin typeface="Courier"/>
              </a:rPr>
              <a:t> bits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Fonctions clés 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Fonction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Sortie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H(x)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Hachage</a:t>
                      </a:r>
                      <a:r>
                        <a:rPr/>
                        <a:t> </a:t>
                      </a:r>
                      <a:r>
                        <a:rPr/>
                        <a:t>SPONGENT-160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160</a:t>
                      </a:r>
                      <a:r>
                        <a:rPr/>
                        <a:t> </a:t>
                      </a:r>
                      <a:r>
                        <a:rPr/>
                        <a:t>bits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L(i)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Ligne</a:t>
                      </a:r>
                      <a:r>
                        <a:rPr/>
                        <a:t> </a:t>
                      </a:r>
                      <a:r>
                        <a:rPr/>
                        <a:t>i</a:t>
                      </a:r>
                      <a:r>
                        <a:rPr/>
                        <a:t> </a:t>
                      </a:r>
                      <a:r>
                        <a:rPr/>
                        <a:t>du</a:t>
                      </a:r>
                      <a:r>
                        <a:rPr/>
                        <a:t> </a:t>
                      </a:r>
                      <a:r>
                        <a:rPr/>
                        <a:t>code</a:t>
                      </a:r>
                      <a:r>
                        <a:rPr/>
                        <a:t> </a:t>
                      </a:r>
                      <a:r>
                        <a:rPr/>
                        <a:t>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256</a:t>
                      </a:r>
                      <a:r>
                        <a:rPr/>
                        <a:t> </a:t>
                      </a:r>
                      <a:r>
                        <a:rPr/>
                        <a:t>bits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HL(n)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H(L(n</a:t>
                      </a:r>
                      <a:r>
                        <a:rPr/>
                        <a:t> </a:t>
                      </a:r>
                      <a:r>
                        <a:rPr/>
                        <a:t>mod</a:t>
                      </a:r>
                      <a:r>
                        <a:rPr/>
                        <a:t> </a:t>
                      </a:r>
                      <a:r>
                        <a:rPr/>
                        <a:t>Nb))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160</a:t>
                      </a:r>
                      <a:r>
                        <a:rPr/>
                        <a:t> </a:t>
                      </a:r>
                      <a:r>
                        <a:rPr/>
                        <a:t>bits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>
                          <a:latin typeface="Courier"/>
                        </a:rPr>
                        <a:t>XOR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OU</a:t>
                      </a:r>
                      <a:r>
                        <a:rPr/>
                        <a:t> </a:t>
                      </a:r>
                      <a:r>
                        <a:rPr/>
                        <a:t>exclusif</a:t>
                      </a:r>
                      <a:r>
                        <a:rPr/>
                        <a:t> </a:t>
                      </a:r>
                      <a:r>
                        <a:rPr/>
                        <a:t>bit</a:t>
                      </a:r>
                      <a:r>
                        <a:rPr/>
                        <a:t> </a:t>
                      </a:r>
                      <a:r>
                        <a:rPr/>
                        <a:t>à</a:t>
                      </a:r>
                      <a:r>
                        <a:rPr/>
                        <a:t> </a:t>
                      </a:r>
                      <a:r>
                        <a:rPr/>
                        <a:t>bit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160</a:t>
                      </a:r>
                      <a:r>
                        <a:rPr/>
                        <a:t> </a:t>
                      </a:r>
                      <a:r>
                        <a:rPr/>
                        <a:t>bits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Paramètres :</a:t>
            </a:r>
          </a:p>
          <a:p>
            <a:pPr lvl="1"/>
            <a:r>
              <a:rPr b="1"/>
              <a:t>Nb</a:t>
            </a:r>
            <a:r>
              <a:rPr/>
              <a:t> = 128 lignes de code</a:t>
            </a:r>
          </a:p>
          <a:p>
            <a:pPr lvl="1"/>
            <a:r>
              <a:rPr b="1"/>
              <a:t>Taille du hash</a:t>
            </a:r>
            <a:r>
              <a:rPr/>
              <a:t> = 160 bits (20 octets)</a:t>
            </a:r>
          </a:p>
          <a:p>
            <a:pPr lvl="1"/>
            <a:r>
              <a:rPr b="1"/>
              <a:t>Diviseur temporel</a:t>
            </a:r>
            <a:r>
              <a:rPr/>
              <a:t> = 10 (Ts = ts/10)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4.</a:t>
            </a:r>
            <a:r>
              <a:rPr/>
              <a:t> </a:t>
            </a:r>
            <a:r>
              <a:rPr/>
              <a:t>Architecture</a:t>
            </a:r>
            <a:r>
              <a:rPr/>
              <a:t> </a:t>
            </a:r>
            <a:r>
              <a:rPr/>
              <a:t>en</a:t>
            </a:r>
            <a:r>
              <a:rPr/>
              <a:t> </a:t>
            </a:r>
            <a:r>
              <a:rPr/>
              <a:t>trois</a:t>
            </a:r>
            <a:r>
              <a:rPr/>
              <a:t> </a:t>
            </a:r>
            <a:r>
              <a:rPr/>
              <a:t>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Phase 1 : Formation du squelette 🔴</a:t>
            </a:r>
          </a:p>
          <a:p>
            <a:pPr lvl="0" marL="0" indent="0">
              <a:buNone/>
            </a:pPr>
            <a:r>
              <a:rPr b="1"/>
              <a:t>Objectif</a:t>
            </a:r>
            <a:r>
              <a:rPr/>
              <a:t> : Authentifier tous les Cluster Heads (CHs)</a:t>
            </a:r>
          </a:p>
          <a:p>
            <a:pPr lvl="1"/>
            <a:r>
              <a:rPr/>
              <a:t>iCH (Module 1) s’authentifie avec tous les CHs</a:t>
            </a:r>
          </a:p>
          <a:p>
            <a:pPr lvl="1"/>
            <a:r>
              <a:rPr/>
              <a:t>Les CHs s’authentifient entre eux</a:t>
            </a:r>
          </a:p>
          <a:p>
            <a:pPr lvl="1"/>
            <a:r>
              <a:rPr/>
              <a:t>Forme l’épine dorsale sécurisée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Phase 2 : Formation des clusters 🟢</a:t>
            </a:r>
          </a:p>
          <a:p>
            <a:pPr lvl="0" marL="0" indent="0">
              <a:buNone/>
            </a:pPr>
            <a:r>
              <a:rPr b="1"/>
              <a:t>Objectif</a:t>
            </a:r>
            <a:r>
              <a:rPr/>
              <a:t> : Authentifier les Cluster Members (CMs)</a:t>
            </a:r>
          </a:p>
          <a:p>
            <a:pPr lvl="1"/>
            <a:r>
              <a:rPr/>
              <a:t>Chaque CH authentifie ses 3 CMs</a:t>
            </a:r>
          </a:p>
          <a:p>
            <a:pPr lvl="1"/>
            <a:r>
              <a:rPr/>
              <a:t>4 modules par cluster (1 CH + 3 CMs)</a:t>
            </a:r>
          </a:p>
          <a:p>
            <a:pPr lvl="1"/>
            <a:r>
              <a:rPr/>
              <a:t>Codage couleur par cluster</a:t>
            </a:r>
          </a:p>
          <a:p>
            <a:pPr lvl="0" marL="0" indent="0">
              <a:buNone/>
            </a:pPr>
            <a:r>
              <a:rPr b="1"/>
              <a:t>Organisation des clusters :</a:t>
            </a:r>
          </a:p>
          <a:p>
            <a:pPr lvl="0" indent="0">
              <a:buNone/>
            </a:pPr>
            <a:r>
              <a:rPr>
                <a:latin typeface="Courier"/>
              </a:rPr>
              <a:t>Cluster 1 : Modules 1-4   (ROUGE)
Cluster 2 : Modules 5-8   (VERT)
Cluster 3 : Modules 9-12  (BLEU)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Phase 3 : Opérationnel 🔵</a:t>
            </a:r>
          </a:p>
          <a:p>
            <a:pPr lvl="0" marL="0" indent="0">
              <a:buNone/>
            </a:pPr>
            <a:r>
              <a:rPr b="1"/>
              <a:t>Objectif</a:t>
            </a:r>
            <a:r>
              <a:rPr/>
              <a:t> : Authentification inter-clusters</a:t>
            </a:r>
          </a:p>
          <a:p>
            <a:pPr lvl="1"/>
            <a:r>
              <a:rPr/>
              <a:t>Les modules de différents clusters s’authentifient</a:t>
            </a:r>
          </a:p>
          <a:p>
            <a:pPr lvl="1"/>
            <a:r>
              <a:rPr/>
              <a:t>Connectivité complète du réseau</a:t>
            </a:r>
          </a:p>
          <a:p>
            <a:pPr lvl="1"/>
            <a:r>
              <a:rPr/>
              <a:t>Système prêt pour la reconfiguration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5.</a:t>
            </a:r>
            <a:r>
              <a:rPr/>
              <a:t> </a:t>
            </a:r>
            <a:r>
              <a:rPr/>
              <a:t>Algorithme</a:t>
            </a:r>
            <a:r>
              <a:rPr/>
              <a:t> </a:t>
            </a:r>
            <a:r>
              <a:rPr/>
              <a:t>1</a:t>
            </a:r>
            <a:r>
              <a:rPr/>
              <a:t> </a:t>
            </a:r>
            <a:r>
              <a:rPr/>
              <a:t>:</a:t>
            </a:r>
            <a:r>
              <a:rPr/>
              <a:t> </a:t>
            </a:r>
            <a:r>
              <a:rPr/>
              <a:t>Authentification</a:t>
            </a:r>
            <a:r>
              <a:rPr/>
              <a:t> </a:t>
            </a:r>
            <a:r>
              <a:rPr/>
              <a:t>mutuelle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Protocole en cinq étapes (SF-1 à SF-5)</a:t>
            </a:r>
          </a:p>
          <a:p>
            <a:pPr lvl="0" indent="0">
              <a:buNone/>
            </a:pPr>
            <a:r>
              <a:rPr>
                <a:latin typeface="Courier"/>
              </a:rPr>
              <a:t>CHn (Demandeur)                    iCH (Vérificateur)
───────────────                    ──────────────────
SF-1 : Génère n0, n1, K0
       x = Ts ⊕ n0
SF-2 : ──────(n1, x, K0)──────────&gt;
                                   SF-3 : Vérifie sync &amp; code
                                          n0' = x ⊕ Ts'
                                          Vérifie : H(n0') = n1
                                          Vérifie : HL(n0') = K0
                                   SF-4 : Génère n2
                                          x1 = n2 ⊕ n0'
&lt;─────────────(x1)─────────────────
SF-5 : n2 = x1 ⊕ n0
       K1 = HL(n2)
       ✅ Clé partagée établie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SF-1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SF-2</a:t>
            </a:r>
            <a:r>
              <a:rPr/>
              <a:t> </a:t>
            </a:r>
            <a:r>
              <a:rPr/>
              <a:t>:</a:t>
            </a:r>
            <a:r>
              <a:rPr/>
              <a:t> </a:t>
            </a:r>
            <a:r>
              <a:rPr/>
              <a:t>Initiation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Actions du demandeur (CHn) 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SF-1 : Génère les données d'authentification</a:t>
            </a:r>
            <a:br/>
            <a:r>
              <a:rPr>
                <a:latin typeface="Courier"/>
              </a:rPr>
              <a:t>n0 = generateNonce160()           </a:t>
            </a:r>
            <a:r>
              <a:rPr i="1">
                <a:solidFill>
                  <a:srgbClr val="60A0B0"/>
                </a:solidFill>
                <a:latin typeface="Courier"/>
              </a:rPr>
              <a:t>// Nonce secret</a:t>
            </a:r>
            <a:br/>
            <a:r>
              <a:rPr>
                <a:latin typeface="Courier"/>
              </a:rPr>
              <a:t>n1 = H(n0)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Empreinte d'authentification</a:t>
            </a:r>
            <a:br/>
            <a:r>
              <a:rPr>
                <a:latin typeface="Courier"/>
              </a:rPr>
              <a:t>K0 = HL(n0)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Preuve de code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Protège n0 avec l'horodatage</a:t>
            </a:r>
            <a:br/>
            <a:r>
              <a:rPr>
                <a:latin typeface="Courier"/>
              </a:rPr>
              <a:t>Ts = round(ts /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 = Ts ⊕ n0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Nonce protégé temporellement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SF-2 : Envoie la requête d'authentification</a:t>
            </a:r>
            <a:br/>
            <a:r>
              <a:rPr>
                <a:latin typeface="Courier"/>
              </a:rPr>
              <a:t>send(n1, x, K0) → iCH</a:t>
            </a:r>
          </a:p>
          <a:p>
            <a:pPr lvl="0" marL="0" indent="0">
              <a:buNone/>
            </a:pPr>
            <a:r>
              <a:rPr b="1"/>
              <a:t>Taille du message</a:t>
            </a:r>
            <a:r>
              <a:rPr/>
              <a:t> : 3 × 160 bits = 480 bits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SF-3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SF-4</a:t>
            </a:r>
            <a:r>
              <a:rPr/>
              <a:t> </a:t>
            </a:r>
            <a:r>
              <a:rPr/>
              <a:t>:</a:t>
            </a:r>
            <a:r>
              <a:rPr/>
              <a:t> </a:t>
            </a:r>
            <a:r>
              <a:rPr/>
              <a:t>Vérification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Actions du vérificateur (iCH) 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SF-3 : Récupère n0 avec tolérance de synchronisation</a:t>
            </a:r>
            <a:br/>
            <a:r>
              <a:rPr>
                <a:latin typeface="Courier"/>
              </a:rPr>
              <a:t>Ts</a:t>
            </a:r>
            <a:r>
              <a:rPr>
                <a:solidFill>
                  <a:srgbClr val="4070A0"/>
                </a:solidFill>
                <a:latin typeface="Courier"/>
              </a:rPr>
              <a:t>' </a:t>
            </a:r>
            <a:r>
              <a:rPr b="1">
                <a:solidFill>
                  <a:srgbClr val="FF0000"/>
                </a:solidFill>
                <a:latin typeface="Courier"/>
              </a:rPr>
              <a:t>= round((Tr - Δt) / 10)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offset in [-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+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]:           </a:t>
            </a:r>
            <a:r>
              <a:rPr i="1">
                <a:solidFill>
                  <a:srgbClr val="60A0B0"/>
                </a:solidFill>
                <a:latin typeface="Courier"/>
              </a:rPr>
              <a:t>// Tolérance ±5</a:t>
            </a:r>
            <a:br/>
            <a:r>
              <a:rPr>
                <a:latin typeface="Courier"/>
              </a:rPr>
              <a:t>    n0</a:t>
            </a:r>
            <a:r>
              <a:rPr>
                <a:solidFill>
                  <a:srgbClr val="4070A0"/>
                </a:solidFill>
                <a:latin typeface="Courier"/>
              </a:rPr>
              <a:t>' </a:t>
            </a:r>
            <a:r>
              <a:rPr b="1">
                <a:solidFill>
                  <a:srgbClr val="FF0000"/>
                </a:solidFill>
                <a:latin typeface="Courier"/>
              </a:rPr>
              <a:t>= x ⊕ (Ts</a:t>
            </a:r>
            <a:r>
              <a:rPr>
                <a:solidFill>
                  <a:srgbClr val="4070A0"/>
                </a:solidFill>
                <a:latin typeface="Courier"/>
              </a:rPr>
              <a:t>'</a:t>
            </a:r>
            <a:r>
              <a:rPr>
                <a:latin typeface="Courier"/>
              </a:rPr>
              <a:t> + offset)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H(n0</a:t>
            </a:r>
            <a:r>
              <a:rPr>
                <a:solidFill>
                  <a:srgbClr val="4070A0"/>
                </a:solidFill>
                <a:latin typeface="Courier"/>
              </a:rPr>
              <a:t>')</a:t>
            </a:r>
            <a:r>
              <a:rPr b="1">
                <a:solidFill>
                  <a:srgbClr val="FF0000"/>
                </a:solidFill>
                <a:latin typeface="Courier"/>
              </a:rPr>
              <a:t> == n1:              // Vérifie l</a:t>
            </a:r>
            <a:r>
              <a:rPr>
                <a:solidFill>
                  <a:srgbClr val="4070A0"/>
                </a:solidFill>
                <a:latin typeface="Courier"/>
              </a:rPr>
              <a:t>'</a:t>
            </a:r>
            <a:r>
              <a:rPr>
                <a:latin typeface="Courier"/>
              </a:rPr>
              <a:t>identité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HL(n0</a:t>
            </a:r>
            <a:r>
              <a:rPr>
                <a:solidFill>
                  <a:srgbClr val="4070A0"/>
                </a:solidFill>
                <a:latin typeface="Courier"/>
              </a:rPr>
              <a:t>')</a:t>
            </a:r>
            <a:r>
              <a:rPr b="1">
                <a:solidFill>
                  <a:srgbClr val="FF0000"/>
                </a:solidFill>
                <a:latin typeface="Courier"/>
              </a:rPr>
              <a:t> == K0:         // Vérifie le code</a:t>
            </a:r>
            <a:br/>
            <a:r>
              <a:rPr>
                <a:latin typeface="Courier"/>
              </a:rPr>
              <a:t>            ✅ Authentification valide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SF-4 : Génère la clé partagée</a:t>
            </a:r>
            <a:br/>
            <a:r>
              <a:rPr>
                <a:latin typeface="Courier"/>
              </a:rPr>
              <a:t>n2 = generateNonce160()</a:t>
            </a:r>
            <a:br/>
            <a:r>
              <a:rPr>
                <a:latin typeface="Courier"/>
              </a:rPr>
              <a:t>x1 = n2 ⊕ n0</a:t>
            </a:r>
            <a:r>
              <a:rPr>
                <a:solidFill>
                  <a:srgbClr val="4070A0"/>
                </a:solidFill>
                <a:latin typeface="Courier"/>
              </a:rPr>
              <a:t>'</a:t>
            </a:r>
            <a:br/>
            <a:r>
              <a:rPr>
                <a:latin typeface="Courier"/>
              </a:rPr>
              <a:t>K1 = HL(n2)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Clé partagée</a:t>
            </a:r>
            <a:br/>
            <a:r>
              <a:rPr>
                <a:latin typeface="Courier"/>
              </a:rPr>
              <a:t>send(x1) → CHn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SF-5</a:t>
            </a:r>
            <a:r>
              <a:rPr/>
              <a:t> </a:t>
            </a:r>
            <a:r>
              <a:rPr/>
              <a:t>:</a:t>
            </a:r>
            <a:r>
              <a:rPr/>
              <a:t> </a:t>
            </a:r>
            <a:r>
              <a:rPr/>
              <a:t>Finalisation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Étape finale du demandeur (CHn) 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SF-5 : Calcule la clé partagée</a:t>
            </a:r>
            <a:br/>
            <a:r>
              <a:rPr>
                <a:latin typeface="Courier"/>
              </a:rPr>
              <a:t>n2 = x1 ⊕ n0</a:t>
            </a:r>
            <a:br/>
            <a:r>
              <a:rPr>
                <a:latin typeface="Courier"/>
              </a:rPr>
              <a:t>K1 = HL(n2)</a:t>
            </a:r>
            <a:br/>
            <a:br/>
            <a:r>
              <a:rPr>
                <a:latin typeface="Courier"/>
              </a:rPr>
              <a:t>✅ Authentification mutuelle complète</a:t>
            </a:r>
            <a:br/>
            <a:r>
              <a:rPr>
                <a:latin typeface="Courier"/>
              </a:rPr>
              <a:t>✅ Clé partagée K1 établie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Propriétés de sécurité :</a:t>
            </a:r>
          </a:p>
          <a:p>
            <a:pPr lvl="1"/>
            <a:r>
              <a:rPr/>
              <a:t>✅ Authentification mutuelle</a:t>
            </a:r>
          </a:p>
          <a:p>
            <a:pPr lvl="1"/>
            <a:r>
              <a:rPr/>
              <a:t>✅ Synchronisation temporelle vérifiée</a:t>
            </a:r>
          </a:p>
          <a:p>
            <a:pPr lvl="1"/>
            <a:r>
              <a:rPr/>
              <a:t>✅ Code identique prouvé</a:t>
            </a:r>
          </a:p>
          <a:p>
            <a:pPr lvl="1"/>
            <a:r>
              <a:rPr/>
              <a:t>✅ Échange de clés sécurisé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6.</a:t>
            </a:r>
            <a:r>
              <a:rPr/>
              <a:t> </a:t>
            </a:r>
            <a:r>
              <a:rPr/>
              <a:t>Gestion</a:t>
            </a:r>
            <a:r>
              <a:rPr/>
              <a:t> </a:t>
            </a:r>
            <a:r>
              <a:rPr/>
              <a:t>des</a:t>
            </a:r>
            <a:r>
              <a:rPr/>
              <a:t> </a:t>
            </a:r>
            <a:r>
              <a:rPr/>
              <a:t>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Organisation des clusters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┌──────────────────────────────────────┐
│ Cluster 1 (ROUGE)  - Modules 1-4     │
│   • Module 1 : iCH (CH initial)      │
│   • Modules 2-4 : CMs                │
├──────────────────────────────────────┤
│ Cluster 2 (VERT)   - Modules 5-8     │
│   • Module 5 : CH                    │
│   • Modules 6-8 : CMs                │
├──────────────────────────────────────┤
│ Cluster 3 (BLEU)   - Modules 9-12    │
│   • Module 9 : CH                    │
│   • Modules 10-12 : CMs              │
└──────────────────────────────────────┘</a:t>
            </a:r>
          </a:p>
          <a:p>
            <a:pPr lvl="0" marL="0" indent="0">
              <a:buNone/>
            </a:pPr>
            <a:r>
              <a:rPr b="1"/>
              <a:t>Calcul de l’ID du cluster</a:t>
            </a:r>
            <a:r>
              <a:rPr/>
              <a:t> : </a:t>
            </a:r>
            <a:r>
              <a:rPr>
                <a:latin typeface="Courier"/>
              </a:rPr>
              <a:t>(blockId - 1) / 4 + 1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Modèles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Série vs Parallèle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Modèle série (par défaut)</a:t>
            </a:r>
          </a:p>
          <a:p>
            <a:pPr lvl="0" indent="0">
              <a:buNone/>
            </a:pPr>
            <a:r>
              <a:rPr>
                <a:latin typeface="Courier"/>
              </a:rPr>
              <a:t>• Une clé partagée pour tout le squelette
• K1 est identique pour toutes les paires authentifiées
• Formation plus rapide
• Utilisation mémoire réduite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Modèle parallèle</a:t>
            </a:r>
          </a:p>
          <a:p>
            <a:pPr lvl="0" indent="0">
              <a:buNone/>
            </a:pPr>
            <a:r>
              <a:rPr>
                <a:latin typeface="Courier"/>
              </a:rPr>
              <a:t>• Clé unique par paire
• K1 différente pour chaque connexion
• Sécurité accrue
• Plus de mémoire requise</a:t>
            </a:r>
          </a:p>
          <a:p>
            <a:pPr lvl="0" marL="0" indent="0">
              <a:buNone/>
            </a:pPr>
            <a:r>
              <a:rPr b="1"/>
              <a:t>Configuration</a:t>
            </a:r>
            <a:r>
              <a:rPr/>
              <a:t> : </a:t>
            </a:r>
            <a:r>
              <a:rPr>
                <a:latin typeface="Courier"/>
              </a:rPr>
              <a:t>#define SCUP_FORMATION_MODEL SERIAL_MODEL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7.</a:t>
            </a:r>
            <a:r>
              <a:rPr/>
              <a:t> </a:t>
            </a:r>
            <a:r>
              <a:rPr/>
              <a:t>Détails</a:t>
            </a:r>
            <a:r>
              <a:rPr/>
              <a:t> </a:t>
            </a:r>
            <a:r>
              <a:rPr/>
              <a:t>d’implémentation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Types de messages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AUTH_REQUEST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(n1,</a:t>
                      </a:r>
                      <a:r>
                        <a:rPr/>
                        <a:t> </a:t>
                      </a:r>
                      <a:r>
                        <a:rPr/>
                        <a:t>x,</a:t>
                      </a:r>
                      <a:r>
                        <a:rPr/>
                        <a:t> </a:t>
                      </a:r>
                      <a:r>
                        <a:rPr/>
                        <a:t>K0)</a:t>
                      </a:r>
                      <a:r>
                        <a:rPr/>
                        <a:t> </a:t>
                      </a: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480</a:t>
                      </a:r>
                      <a:r>
                        <a:rPr/>
                        <a:t> </a:t>
                      </a:r>
                      <a:r>
                        <a:rPr/>
                        <a:t>bits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KEY_CHALLENGE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(x1)</a:t>
                      </a:r>
                      <a:r>
                        <a:rPr/>
                        <a:t> </a:t>
                      </a:r>
                      <a:r>
                        <a:rPr/>
                        <a:t>-</a:t>
                      </a:r>
                      <a:r>
                        <a:rPr/>
                        <a:t> </a:t>
                      </a:r>
                      <a:r>
                        <a:rPr/>
                        <a:t>160</a:t>
                      </a:r>
                      <a:r>
                        <a:rPr/>
                        <a:t> </a:t>
                      </a:r>
                      <a:r>
                        <a:rPr/>
                        <a:t>bits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SKELETON_READY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Notification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CLUSTER_READY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Notification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START_FORMATION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Signal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déclenchement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Classes principales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SCupCatoms3DCode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SCupCatoms3DCode :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Catoms3DBlockCode 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Informations de sécurité</a:t>
            </a:r>
            <a:br/>
            <a:r>
              <a:rPr>
                <a:latin typeface="Courier"/>
              </a:rPr>
              <a:t>    SecurityInfo security;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Gestion des voisins</a:t>
            </a:r>
            <a:br/>
            <a:r>
              <a:rPr>
                <a:latin typeface="Courier"/>
              </a:rPr>
              <a:t>    map&lt;P2PNetworkInterface*, vector&lt;</a:t>
            </a:r>
            <a:r>
              <a:rPr>
                <a:solidFill>
                  <a:srgbClr val="902000"/>
                </a:solidFill>
                <a:latin typeface="Courier"/>
              </a:rPr>
              <a:t>uint8_t</a:t>
            </a:r>
            <a:r>
              <a:rPr>
                <a:latin typeface="Courier"/>
              </a:rPr>
              <a:t>&gt;&gt; neighborKeys;</a:t>
            </a:r>
            <a:br/>
            <a:r>
              <a:rPr>
                <a:latin typeface="Courier"/>
              </a:rPr>
              <a:t>    map&lt;P2PNetworkInterface*,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&gt; authenticatedNeighbors;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Fonctions de l'algorithme 1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algorithm1_Initiate(P2PNetworkInterface* dest);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algorithm1_Verify(...);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algorithm1_Complete(...);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Gestion des phases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startSkeletonFormation();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startClusterFormation();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void</a:t>
            </a:r>
            <a:r>
              <a:rPr>
                <a:latin typeface="Courier"/>
              </a:rPr>
              <a:t> startOperationalPhase();</a:t>
            </a:r>
            <a:br/>
            <a:r>
              <a:rPr>
                <a:latin typeface="Courier"/>
              </a:rPr>
              <a:t>};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États de sécurité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enum</a:t>
            </a:r>
            <a:r>
              <a:rPr>
                <a:latin typeface="Courier"/>
              </a:rPr>
              <a:t> SecurityState {</a:t>
            </a:r>
            <a:br/>
            <a:r>
              <a:rPr>
                <a:latin typeface="Courier"/>
              </a:rPr>
              <a:t>    STATE_UNLINKED,          </a:t>
            </a:r>
            <a:r>
              <a:rPr i="1">
                <a:solidFill>
                  <a:srgbClr val="60A0B0"/>
                </a:solidFill>
                <a:latin typeface="Courier"/>
              </a:rPr>
              <a:t>// Non connecté</a:t>
            </a:r>
            <a:br/>
            <a:r>
              <a:rPr>
                <a:latin typeface="Courier"/>
              </a:rPr>
              <a:t>    STATE_AUTHENTICATING,    </a:t>
            </a:r>
            <a:r>
              <a:rPr i="1">
                <a:solidFill>
                  <a:srgbClr val="60A0B0"/>
                </a:solidFill>
                <a:latin typeface="Courier"/>
              </a:rPr>
              <a:t>// Authentification en cours</a:t>
            </a:r>
            <a:br/>
            <a:r>
              <a:rPr>
                <a:latin typeface="Courier"/>
              </a:rPr>
              <a:t>    STATE_AUTHENTICATED,     </a:t>
            </a:r>
            <a:r>
              <a:rPr i="1">
                <a:solidFill>
                  <a:srgbClr val="60A0B0"/>
                </a:solidFill>
                <a:latin typeface="Courier"/>
              </a:rPr>
              <a:t>// Identité vérifiée</a:t>
            </a:r>
            <a:br/>
            <a:r>
              <a:rPr>
                <a:latin typeface="Courier"/>
              </a:rPr>
              <a:t>    STATE_KEY_ESTABLISHED    </a:t>
            </a:r>
            <a:r>
              <a:rPr i="1">
                <a:solidFill>
                  <a:srgbClr val="60A0B0"/>
                </a:solidFill>
                <a:latin typeface="Courier"/>
              </a:rPr>
              <a:t>// Clé partagée prête</a:t>
            </a:r>
            <a:br/>
            <a:r>
              <a:rPr>
                <a:latin typeface="Courier"/>
              </a:rPr>
              <a:t>};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enum</a:t>
            </a:r>
            <a:r>
              <a:rPr>
                <a:latin typeface="Courier"/>
              </a:rPr>
              <a:t> ProtocolPhase {</a:t>
            </a:r>
            <a:br/>
            <a:r>
              <a:rPr>
                <a:latin typeface="Courier"/>
              </a:rPr>
              <a:t>    PHASE_WAITING,           </a:t>
            </a:r>
            <a:r>
              <a:rPr i="1">
                <a:solidFill>
                  <a:srgbClr val="60A0B0"/>
                </a:solidFill>
                <a:latin typeface="Courier"/>
              </a:rPr>
              <a:t>// En attente de déclenchement</a:t>
            </a:r>
            <a:br/>
            <a:r>
              <a:rPr>
                <a:latin typeface="Courier"/>
              </a:rPr>
              <a:t>    PHASE_SKELETON,          </a:t>
            </a:r>
            <a:r>
              <a:rPr i="1">
                <a:solidFill>
                  <a:srgbClr val="60A0B0"/>
                </a:solidFill>
                <a:latin typeface="Courier"/>
              </a:rPr>
              <a:t>// Phase 1 active</a:t>
            </a:r>
            <a:br/>
            <a:r>
              <a:rPr>
                <a:latin typeface="Courier"/>
              </a:rPr>
              <a:t>    PHASE_CLUSTERING,        </a:t>
            </a:r>
            <a:r>
              <a:rPr i="1">
                <a:solidFill>
                  <a:srgbClr val="60A0B0"/>
                </a:solidFill>
                <a:latin typeface="Courier"/>
              </a:rPr>
              <a:t>// Phase 2 active</a:t>
            </a:r>
            <a:br/>
            <a:r>
              <a:rPr>
                <a:latin typeface="Courier"/>
              </a:rPr>
              <a:t>    PHASE_OPERATIONAL        </a:t>
            </a:r>
            <a:r>
              <a:rPr i="1">
                <a:solidFill>
                  <a:srgbClr val="60A0B0"/>
                </a:solidFill>
                <a:latin typeface="Courier"/>
              </a:rPr>
              <a:t>// Phase 3 active</a:t>
            </a:r>
            <a:br/>
            <a:r>
              <a:rPr>
                <a:latin typeface="Courier"/>
              </a:rPr>
              <a:t>};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8.</a:t>
            </a:r>
            <a:r>
              <a:rPr/>
              <a:t> </a:t>
            </a:r>
            <a:r>
              <a:rPr/>
              <a:t>Performance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Statistiques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Analyse de complexité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Complexité temporelle</a:t>
            </a:r>
          </a:p>
          <a:p>
            <a:pPr lvl="1"/>
            <a:r>
              <a:rPr b="1"/>
              <a:t>O(w)</a:t>
            </a:r>
            <a:r>
              <a:rPr/>
              <a:t> où w = nombre de liens</a:t>
            </a:r>
          </a:p>
          <a:p>
            <a:pPr lvl="1"/>
            <a:r>
              <a:rPr/>
              <a:t>Linéaire avec la taille du réseau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Surcharge par lien</a:t>
            </a:r>
          </a:p>
          <a:p>
            <a:pPr lvl="0" indent="0">
              <a:buNone/>
            </a:pPr>
            <a:r>
              <a:rPr>
                <a:latin typeface="Courier"/>
              </a:rPr>
              <a:t>6H   : 6 opérations de hachage
2Tx  : 2 transmissions
4XOR : 4 opérations XOR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Surcharge de messages</a:t>
            </a:r>
          </a:p>
          <a:p>
            <a:pPr lvl="1"/>
            <a:r>
              <a:rPr b="1"/>
              <a:t>Phase 1</a:t>
            </a:r>
            <a:r>
              <a:rPr/>
              <a:t> : 2 messages par paire de CH</a:t>
            </a:r>
          </a:p>
          <a:p>
            <a:pPr lvl="1"/>
            <a:r>
              <a:rPr b="1"/>
              <a:t>Phase 2</a:t>
            </a:r>
            <a:r>
              <a:rPr/>
              <a:t> : 2 messages par CM</a:t>
            </a:r>
          </a:p>
          <a:p>
            <a:pPr lvl="1"/>
            <a:r>
              <a:rPr b="1"/>
              <a:t>Phase 3</a:t>
            </a:r>
            <a:r>
              <a:rPr/>
              <a:t> : 2 messages par lien inter-cluster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Affichage des statistiques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╔════════════════════════════════════════════════╗
║         STATISTIQUES S-CUP                     ║
╠════════════════════════════════════════════════╣
║ Modèle de formation  : SÉRIE (1 clé)          ║
╠════════════════════════════════════════════════╣
║ Modules authentifiés :  12 /  12               ║
║ Messages échangés    :    48                   ║
║ Temps de formation   :   15000 µs              ║
║ Msg par module (moy) :   4.00                  ║
║ Temps par module     : 1250.00 µs              ║
╠════════════════════════════════════════════════╣
║ Complexité Algo1     : O(w) - w liens          ║
║ Surcharge par lien   : 6H + 2Tx + 4XOR         ║
╚════════════════════════════════════════════════╝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Flux</a:t>
            </a:r>
            <a:r>
              <a:rPr/>
              <a:t> </a:t>
            </a:r>
            <a:r>
              <a:rPr/>
              <a:t>d’exécution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Séquence de démarrage</a:t>
            </a:r>
          </a:p>
          <a:p>
            <a:pPr lvl="0" indent="0">
              <a:buNone/>
            </a:pPr>
            <a:r>
              <a:rPr>
                <a:latin typeface="Courier"/>
              </a:rPr>
              <a:t>1. Initialisation des modules
   ├─ Détermine l'ID du cluster
   ├─ Assigne le rôle (iCH/CH/CM)
   └─ Définit la couleur initiale
2. Phase 1 : Formation du squelette
   ├─ iCH attend les requêtes des CHs
   ├─ Les CHs initient l'authentification
   └─ Squelette complet → Pause
3. Phase 2 : Formation des clusters
   ├─ Les CHs attendent les requêtes des CMs
   ├─ Les CMs s'authentifient avec leur CH
   └─ Tous les clusters complets → Pause
4. Phase 3 : Opérationnel
   ├─ Authentification inter-clusters
   └─ Système prêt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Synchronisation</a:t>
            </a:r>
            <a:r>
              <a:rPr/>
              <a:t> </a:t>
            </a:r>
            <a:r>
              <a:rPr/>
              <a:t>temporelle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Mécanisme de tolérance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Paramètres de synchronisation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SCUP_TIME_DIVISOR     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BC7A00"/>
                </a:solidFill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Ts = ts/10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SCUP_TIME_TOLERANCE    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BC7A00"/>
                </a:solidFill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Tolérance ±5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SCUP_TRANSMISSION_DELAY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solidFill>
                  <a:srgbClr val="BC7A00"/>
                </a:solidFill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Δt = 100 µs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Vérification avec tolérance</a:t>
            </a:r>
            <a:br/>
            <a:r>
              <a:rPr>
                <a:latin typeface="Courier"/>
              </a:rPr>
              <a:t>Ts_base = (Tr - Δt) /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offset in [-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+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Ts_test = Ts_base + offset</a:t>
            </a:r>
            <a:br/>
            <a:r>
              <a:rPr>
                <a:latin typeface="Courier"/>
              </a:rPr>
              <a:t>    n0_test = x ⊕ Ts_test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H(n0_test) == n1:</a:t>
            </a:r>
            <a:br/>
            <a:r>
              <a:rPr>
                <a:latin typeface="Courier"/>
              </a:rPr>
              <a:t>        ✅ Synchronisation réussie</a:t>
            </a:r>
          </a:p>
          <a:p>
            <a:pPr lvl="0" marL="0" indent="0">
              <a:buNone/>
            </a:pPr>
            <a:r>
              <a:rPr b="1"/>
              <a:t>Fenêtre de tolérance</a:t>
            </a:r>
            <a:r>
              <a:rPr/>
              <a:t> : ±50 µs (5 × 10)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Mécanisme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preuve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Garantir un code identique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Chaque module a Nb = 128 lignes de code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Chaque ligne L(i) fait 256 bits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Génération de la preuve (SF-1)</a:t>
            </a:r>
            <a:br/>
            <a:r>
              <a:rPr>
                <a:latin typeface="Courier"/>
              </a:rPr>
              <a:t>K0 = H(L(n0 mod Nb))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Vérification de la preuve (SF-3)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HL(n0</a:t>
            </a:r>
            <a:r>
              <a:rPr>
                <a:solidFill>
                  <a:srgbClr val="4070A0"/>
                </a:solidFill>
                <a:latin typeface="Courier"/>
              </a:rPr>
              <a:t>')</a:t>
            </a:r>
            <a:r>
              <a:rPr b="1">
                <a:solidFill>
                  <a:srgbClr val="FF0000"/>
                </a:solidFill>
                <a:latin typeface="Courier"/>
              </a:rPr>
              <a:t> == K0:</a:t>
            </a:r>
            <a:br/>
            <a:r>
              <a:rPr>
                <a:latin typeface="Courier"/>
              </a:rPr>
              <a:t>    ✅ Même code en exécution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❌ Code différent - rejet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Avantage sécuritaire :</a:t>
            </a:r>
          </a:p>
          <a:p>
            <a:pPr lvl="1"/>
            <a:r>
              <a:rPr/>
              <a:t>Empêche l’injection de code malveillant</a:t>
            </a:r>
          </a:p>
          <a:p>
            <a:pPr lvl="1"/>
            <a:r>
              <a:rPr/>
              <a:t>Garantit que tous les modules exécutent le même firmware</a:t>
            </a:r>
          </a:p>
          <a:p>
            <a:pPr lvl="1"/>
            <a:r>
              <a:rPr/>
              <a:t>Vérification légère (un seul hachage)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Retour</a:t>
            </a:r>
            <a:r>
              <a:rPr/>
              <a:t> </a:t>
            </a:r>
            <a:r>
              <a:rPr/>
              <a:t>visuel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Système de codage couleur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Couleur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Signification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🔴</a:t>
                      </a:r>
                      <a:r>
                        <a:rPr/>
                        <a:t> </a:t>
                      </a:r>
                      <a:r>
                        <a:rPr/>
                        <a:t>ROUGE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Cluster</a:t>
                      </a:r>
                      <a:r>
                        <a:rPr/>
                        <a:t> </a:t>
                      </a:r>
                      <a:r>
                        <a:rPr/>
                        <a:t>1</a:t>
                      </a:r>
                      <a:r>
                        <a:rPr/>
                        <a:t> </a:t>
                      </a:r>
                      <a:r>
                        <a:rPr/>
                        <a:t>(authentifié)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🟢</a:t>
                      </a:r>
                      <a:r>
                        <a:rPr/>
                        <a:t> </a:t>
                      </a:r>
                      <a:r>
                        <a:rPr/>
                        <a:t>VERT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Cluster</a:t>
                      </a:r>
                      <a:r>
                        <a:rPr/>
                        <a:t> </a:t>
                      </a:r>
                      <a:r>
                        <a:rPr/>
                        <a:t>2</a:t>
                      </a:r>
                      <a:r>
                        <a:rPr/>
                        <a:t> </a:t>
                      </a:r>
                      <a:r>
                        <a:rPr/>
                        <a:t>(authentifié)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🔵</a:t>
                      </a:r>
                      <a:r>
                        <a:rPr/>
                        <a:t> </a:t>
                      </a:r>
                      <a:r>
                        <a:rPr/>
                        <a:t>BLEU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Cluster</a:t>
                      </a:r>
                      <a:r>
                        <a:rPr/>
                        <a:t> </a:t>
                      </a:r>
                      <a:r>
                        <a:rPr/>
                        <a:t>3</a:t>
                      </a:r>
                      <a:r>
                        <a:rPr/>
                        <a:t> </a:t>
                      </a:r>
                      <a:r>
                        <a:rPr/>
                        <a:t>(authentifié)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⚪</a:t>
                      </a:r>
                      <a:r>
                        <a:rPr/>
                        <a:t> </a:t>
                      </a:r>
                      <a:r>
                        <a:rPr/>
                        <a:t>GRIS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Module</a:t>
                      </a:r>
                      <a:r>
                        <a:rPr/>
                        <a:t> </a:t>
                      </a:r>
                      <a:r>
                        <a:rPr/>
                        <a:t>non</a:t>
                      </a:r>
                      <a:r>
                        <a:rPr/>
                        <a:t> </a:t>
                      </a:r>
                      <a:r>
                        <a:rPr/>
                        <a:t>authentifié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🟠</a:t>
                      </a:r>
                      <a:r>
                        <a:rPr/>
                        <a:t> </a:t>
                      </a:r>
                      <a:r>
                        <a:rPr/>
                        <a:t>ORANGE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Cluster</a:t>
                      </a:r>
                      <a:r>
                        <a:rPr/>
                        <a:t> </a:t>
                      </a:r>
                      <a:r>
                        <a:rPr/>
                        <a:t>Head</a:t>
                      </a:r>
                      <a:r>
                        <a:rPr/>
                        <a:t> </a:t>
                      </a:r>
                      <a:r>
                        <a:rPr/>
                        <a:t>(avant</a:t>
                      </a:r>
                      <a:r>
                        <a:rPr/>
                        <a:t> </a:t>
                      </a:r>
                      <a:r>
                        <a:rPr/>
                        <a:t>auth)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🔷</a:t>
                      </a:r>
                      <a:r>
                        <a:rPr/>
                        <a:t> </a:t>
                      </a:r>
                      <a:r>
                        <a:rPr/>
                        <a:t>CYAN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Authentification</a:t>
                      </a:r>
                      <a:r>
                        <a:rPr/>
                        <a:t> </a:t>
                      </a:r>
                      <a:r>
                        <a:rPr/>
                        <a:t>en</a:t>
                      </a:r>
                      <a:r>
                        <a:rPr/>
                        <a:t> </a:t>
                      </a:r>
                      <a:r>
                        <a:rPr/>
                        <a:t>cours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Visualisation en temps réel</a:t>
            </a:r>
            <a:r>
              <a:rPr/>
              <a:t> de la progression du protocole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Résumé</a:t>
            </a:r>
            <a:r>
              <a:rPr/>
              <a:t> </a:t>
            </a:r>
            <a:r>
              <a:rPr/>
              <a:t>des</a:t>
            </a:r>
            <a:r>
              <a:rPr/>
              <a:t> </a:t>
            </a:r>
            <a:r>
              <a:rPr/>
              <a:t>fonctionnalités</a:t>
            </a:r>
            <a:r>
              <a:rPr/>
              <a:t> </a:t>
            </a:r>
            <a:r>
              <a:rPr/>
              <a:t>clés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✅ Sécurité</a:t>
            </a:r>
          </a:p>
          <a:p>
            <a:pPr lvl="1"/>
            <a:r>
              <a:rPr/>
              <a:t>Authentification mutuelle</a:t>
            </a:r>
          </a:p>
          <a:p>
            <a:pPr lvl="1"/>
            <a:r>
              <a:rPr/>
              <a:t>Cryptographie légère (SPONGENT-160)</a:t>
            </a:r>
          </a:p>
          <a:p>
            <a:pPr lvl="1"/>
            <a:r>
              <a:rPr/>
              <a:t>Preuve d’exécution de code</a:t>
            </a:r>
          </a:p>
          <a:p>
            <a:pPr lvl="1"/>
            <a:r>
              <a:rPr/>
              <a:t>Échange de clés sécurisé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✅ Robustesse</a:t>
            </a:r>
          </a:p>
          <a:p>
            <a:pPr lvl="1"/>
            <a:r>
              <a:rPr/>
              <a:t>Synchronisation temporelle avec tolérance</a:t>
            </a:r>
          </a:p>
          <a:p>
            <a:pPr lvl="1"/>
            <a:r>
              <a:rPr/>
              <a:t>Organisation basée sur les clusters</a:t>
            </a:r>
          </a:p>
          <a:p>
            <a:pPr lvl="1"/>
            <a:r>
              <a:rPr/>
              <a:t>Progression phase par phase</a:t>
            </a:r>
          </a:p>
          <a:p>
            <a:pPr lvl="1"/>
            <a:r>
              <a:rPr/>
              <a:t>Gestion des erreurs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✅ Efficacité</a:t>
            </a:r>
          </a:p>
          <a:p>
            <a:pPr lvl="1"/>
            <a:r>
              <a:rPr/>
              <a:t>Complexité O(w)</a:t>
            </a:r>
          </a:p>
          <a:p>
            <a:pPr lvl="1"/>
            <a:r>
              <a:rPr/>
              <a:t>Surcharge de messages minimale</a:t>
            </a:r>
          </a:p>
          <a:p>
            <a:pPr lvl="1"/>
            <a:r>
              <a:rPr/>
              <a:t>Support de l’authentification parallèle</a:t>
            </a:r>
          </a:p>
          <a:p>
            <a:pPr lvl="1"/>
            <a:r>
              <a:rPr/>
              <a:t>Économe en ressources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Options</a:t>
            </a:r>
            <a:r>
              <a:rPr/>
              <a:t> </a:t>
            </a:r>
            <a:r>
              <a:rPr/>
              <a:t>de</a:t>
            </a:r>
            <a:r>
              <a:rPr/>
              <a:t> </a:t>
            </a:r>
            <a:r>
              <a:rPr/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Paramètres personnalisables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Cryptographie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SCUP_CODE_LINES         </a:t>
            </a:r>
            <a:r>
              <a:rPr>
                <a:solidFill>
                  <a:srgbClr val="40A070"/>
                </a:solidFill>
                <a:latin typeface="Courier"/>
              </a:rPr>
              <a:t>128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SCUP_LINE_SIZE_BITS     </a:t>
            </a:r>
            <a:r>
              <a:rPr>
                <a:solidFill>
                  <a:srgbClr val="40A070"/>
                </a:solidFill>
                <a:latin typeface="Courier"/>
              </a:rPr>
              <a:t>256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SCUP_HASH_SIZE_BYTES    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Temporisation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SCUP_TIME_DIVISOR       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SCUP_TIME_TOLERANCE      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SCUP_TRANSMISSION_DELAY 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Formation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SCUP_FORMATION_MODEL </a:t>
            </a:r>
            <a:r>
              <a:rPr>
                <a:latin typeface="Courier"/>
              </a:rPr>
              <a:t>SERIAL_MODEL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Options : SERIAL_MODEL, PARALLEL_MODEL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Couleurs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SCUP_CLUSTER_1_COLOR  </a:t>
            </a:r>
            <a:r>
              <a:rPr>
                <a:latin typeface="Courier"/>
              </a:rPr>
              <a:t>RED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SCUP_CLUSTER_2_COLOR  </a:t>
            </a:r>
            <a:r>
              <a:rPr>
                <a:latin typeface="Courier"/>
              </a:rPr>
              <a:t>GREEN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#define SCUP_CLUSTER_3_COLOR  </a:t>
            </a:r>
            <a:r>
              <a:rPr>
                <a:latin typeface="Courier"/>
              </a:rPr>
              <a:t>BLUE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Cas</a:t>
            </a:r>
            <a:r>
              <a:rPr/>
              <a:t> </a:t>
            </a:r>
            <a:r>
              <a:rPr/>
              <a:t>d’utilisation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Applications</a:t>
            </a:r>
          </a:p>
          <a:p>
            <a:pPr lvl="1">
              <a:buAutoNum type="arabicPeriod"/>
            </a:pPr>
            <a:r>
              <a:rPr b="1"/>
              <a:t>Reconfiguration sécurisée</a:t>
            </a:r>
          </a:p>
          <a:p>
            <a:pPr lvl="2"/>
            <a:r>
              <a:rPr/>
              <a:t>Morphing de forme avec authentification</a:t>
            </a:r>
          </a:p>
          <a:p>
            <a:pPr lvl="2"/>
            <a:r>
              <a:rPr/>
              <a:t>Changements de topologie vérifiés</a:t>
            </a:r>
          </a:p>
          <a:p>
            <a:pPr lvl="1">
              <a:buAutoNum type="arabicPeriod"/>
            </a:pPr>
            <a:r>
              <a:rPr b="1"/>
              <a:t>Systèmes distribués</a:t>
            </a:r>
          </a:p>
          <a:p>
            <a:pPr lvl="2"/>
            <a:r>
              <a:rPr/>
              <a:t>Réseaux de capteurs sécurisés</a:t>
            </a:r>
          </a:p>
          <a:p>
            <a:pPr lvl="2"/>
            <a:r>
              <a:rPr/>
              <a:t>Essaims de robots authentifiés</a:t>
            </a:r>
          </a:p>
          <a:p>
            <a:pPr lvl="1">
              <a:buAutoNum type="arabicPeriod"/>
            </a:pPr>
            <a:r>
              <a:rPr b="1"/>
              <a:t>Infrastructure critique</a:t>
            </a:r>
          </a:p>
          <a:p>
            <a:pPr lvl="2"/>
            <a:r>
              <a:rPr/>
              <a:t>Nanorobots médicaux</a:t>
            </a:r>
          </a:p>
          <a:p>
            <a:pPr lvl="2"/>
            <a:r>
              <a:rPr/>
              <a:t>Modules d’exploration spatiale</a:t>
            </a:r>
          </a:p>
          <a:p>
            <a:pPr lvl="1">
              <a:buAutoNum type="arabicPeriod"/>
            </a:pPr>
            <a:r>
              <a:rPr b="1"/>
              <a:t>Recherche</a:t>
            </a:r>
          </a:p>
          <a:p>
            <a:pPr lvl="2"/>
            <a:r>
              <a:rPr/>
              <a:t>Validation de protocoles</a:t>
            </a:r>
          </a:p>
          <a:p>
            <a:pPr lvl="2"/>
            <a:r>
              <a:rPr/>
              <a:t>Benchmarking de performance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Pourquoi S-CUP ?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🚀 Performance</a:t>
            </a:r>
          </a:p>
          <a:p>
            <a:pPr lvl="1"/>
            <a:r>
              <a:rPr/>
              <a:t>Authentification rapide (microsecondes)</a:t>
            </a:r>
          </a:p>
          <a:p>
            <a:pPr lvl="1"/>
            <a:r>
              <a:rPr/>
              <a:t>Faible surcharge de messages</a:t>
            </a:r>
          </a:p>
          <a:p>
            <a:pPr lvl="1"/>
            <a:r>
              <a:rPr/>
              <a:t>Évolutif pour les grands réseaux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🔒 Sécurité</a:t>
            </a:r>
          </a:p>
          <a:p>
            <a:pPr lvl="1"/>
            <a:r>
              <a:rPr/>
              <a:t>Cryptographiquement sécurisé</a:t>
            </a:r>
          </a:p>
          <a:p>
            <a:pPr lvl="1"/>
            <a:r>
              <a:rPr/>
              <a:t>Résistant aux attaques par rejeu</a:t>
            </a:r>
          </a:p>
          <a:p>
            <a:pPr lvl="1"/>
            <a:r>
              <a:rPr/>
              <a:t>Vérification de l’intégrité du code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💡 Praticité</a:t>
            </a:r>
          </a:p>
          <a:p>
            <a:pPr lvl="1"/>
            <a:r>
              <a:rPr/>
              <a:t>Facile à implémenter</a:t>
            </a:r>
          </a:p>
          <a:p>
            <a:pPr lvl="1"/>
            <a:r>
              <a:rPr/>
              <a:t>Paramètres configurables</a:t>
            </a:r>
          </a:p>
          <a:p>
            <a:pPr lvl="1"/>
            <a:r>
              <a:rPr/>
              <a:t>Retour visuel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Améliorations</a:t>
            </a:r>
            <a:r>
              <a:rPr/>
              <a:t> </a:t>
            </a:r>
            <a:r>
              <a:rPr/>
              <a:t>futures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Améliorations potentielles</a:t>
            </a:r>
          </a:p>
          <a:p>
            <a:pPr lvl="1">
              <a:buAutoNum type="arabicPeriod"/>
            </a:pPr>
            <a:r>
              <a:rPr b="1"/>
              <a:t>Clustering dynamique</a:t>
            </a:r>
          </a:p>
          <a:p>
            <a:pPr lvl="2"/>
            <a:r>
              <a:rPr/>
              <a:t>Tailles de clusters adaptatives</a:t>
            </a:r>
          </a:p>
          <a:p>
            <a:pPr lvl="2"/>
            <a:r>
              <a:rPr/>
              <a:t>Réorganisation à l’exécution</a:t>
            </a:r>
          </a:p>
          <a:p>
            <a:pPr lvl="1">
              <a:buAutoNum type="arabicPeriod"/>
            </a:pPr>
            <a:r>
              <a:rPr b="1"/>
              <a:t>Cryptographie avancée</a:t>
            </a:r>
          </a:p>
          <a:p>
            <a:pPr lvl="2"/>
            <a:r>
              <a:rPr/>
              <a:t>Algorithmes post-quantiques</a:t>
            </a:r>
          </a:p>
          <a:p>
            <a:pPr lvl="2"/>
            <a:r>
              <a:rPr/>
              <a:t>Chiffrement hybride</a:t>
            </a:r>
          </a:p>
          <a:p>
            <a:pPr lvl="1">
              <a:buAutoNum type="arabicPeriod"/>
            </a:pPr>
            <a:r>
              <a:rPr b="1"/>
              <a:t>Tolérance aux pannes</a:t>
            </a:r>
          </a:p>
          <a:p>
            <a:pPr lvl="2"/>
            <a:r>
              <a:rPr/>
              <a:t>Gestion des pannes byzantines</a:t>
            </a:r>
          </a:p>
          <a:p>
            <a:pPr lvl="2"/>
            <a:r>
              <a:rPr/>
              <a:t>Récupération automatique</a:t>
            </a:r>
          </a:p>
          <a:p>
            <a:pPr lvl="1">
              <a:buAutoNum type="arabicPeriod"/>
            </a:pPr>
            <a:r>
              <a:rPr b="1"/>
              <a:t>Optimisation</a:t>
            </a:r>
          </a:p>
          <a:p>
            <a:pPr lvl="2"/>
            <a:r>
              <a:rPr/>
              <a:t>Latence réduite</a:t>
            </a:r>
          </a:p>
          <a:p>
            <a:pPr lvl="2"/>
            <a:r>
              <a:rPr/>
              <a:t>Efficacité énergétique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Résumé du protocole S-CUP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Sécurisé</a:t>
            </a:r>
            <a:r>
              <a:rPr/>
              <a:t> - Authentification mutuelle avec preuve de code ✅ </a:t>
            </a:r>
            <a:r>
              <a:rPr b="1"/>
              <a:t>Efficace</a:t>
            </a:r>
            <a:r>
              <a:rPr/>
              <a:t> - Complexité O(w), surcharge minimale ✅ </a:t>
            </a:r>
            <a:r>
              <a:rPr b="1"/>
              <a:t>Robuste</a:t>
            </a:r>
            <a:r>
              <a:rPr/>
              <a:t> - Synchronisation temporelle avec tolérance ✅ </a:t>
            </a:r>
            <a:r>
              <a:rPr b="1"/>
              <a:t>Pratique</a:t>
            </a:r>
            <a:r>
              <a:rPr/>
              <a:t> - Implémenté pour les robots Catoms3D ✅ </a:t>
            </a:r>
            <a:r>
              <a:rPr b="1"/>
              <a:t>Évolutif</a:t>
            </a:r>
            <a:r>
              <a:rPr/>
              <a:t> - Architecture basée sur les clusters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Innovation clé :</a:t>
            </a:r>
          </a:p>
          <a:p>
            <a:pPr lvl="0" marL="0" indent="0">
              <a:buNone/>
            </a:pPr>
            <a:r>
              <a:rPr b="1"/>
              <a:t>Sécurité légère pour robots modulaires à ressources limitées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Références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Ressources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Fichiers d’implémentation</a:t>
            </a:r>
          </a:p>
          <a:p>
            <a:pPr lvl="1"/>
            <a:r>
              <a:rPr>
                <a:latin typeface="Courier"/>
              </a:rPr>
              <a:t>scupCatoms3D.cpp</a:t>
            </a:r>
            <a:r>
              <a:rPr/>
              <a:t> - Point d’entrée principal</a:t>
            </a:r>
          </a:p>
          <a:p>
            <a:pPr lvl="1"/>
            <a:r>
              <a:rPr>
                <a:latin typeface="Courier"/>
              </a:rPr>
              <a:t>SCupCatoms3DCode.h</a:t>
            </a:r>
            <a:r>
              <a:rPr/>
              <a:t> - Définitions du protocole</a:t>
            </a:r>
          </a:p>
          <a:p>
            <a:pPr lvl="1"/>
            <a:r>
              <a:rPr>
                <a:latin typeface="Courier"/>
              </a:rPr>
              <a:t>SCupCatoms3DCode.cpp</a:t>
            </a:r>
            <a:r>
              <a:rPr/>
              <a:t> - Implémentation principale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Documentation</a:t>
            </a:r>
          </a:p>
          <a:p>
            <a:pPr lvl="1"/>
            <a:r>
              <a:rPr/>
              <a:t>Article WINCOM 2025</a:t>
            </a:r>
          </a:p>
          <a:p>
            <a:pPr lvl="1"/>
            <a:r>
              <a:rPr/>
              <a:t>Framework VisibleSim</a:t>
            </a:r>
          </a:p>
          <a:p>
            <a:pPr lvl="1"/>
            <a:r>
              <a:rPr/>
              <a:t>Spécification SPONGENT-160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Contact</a:t>
            </a:r>
          </a:p>
          <a:p>
            <a:pPr lvl="0" marL="0" indent="0">
              <a:buNone/>
            </a:pPr>
            <a:r>
              <a:rPr/>
              <a:t>Pour toute question sur cette implémentation, consultez la documentation du code source.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Merci</a:t>
            </a:r>
            <a:r>
              <a:rPr/>
              <a:t> </a:t>
            </a:r>
            <a:r>
              <a:rPr/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Questions ?</a:t>
            </a:r>
          </a:p>
          <a:p>
            <a:pPr lvl="0" marL="0" indent="0">
              <a:buNone/>
            </a:pPr>
            <a:r>
              <a:rPr b="1"/>
              <a:t>Protocole S-CUP</a:t>
            </a:r>
            <a:r>
              <a:rPr/>
              <a:t> Protocole de Sécurité pour l’Auto-reconfiguration par Clustering</a:t>
            </a:r>
          </a:p>
          <a:p>
            <a:pPr lvl="0" marL="0" indent="0">
              <a:buNone/>
            </a:pPr>
            <a:r>
              <a:rPr i="1"/>
              <a:t>Implémentation pour les Robots Modulaires Catoms3D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2026-04-27T22:15:05Z</dcterms:created>
  <dcterms:modified xsi:type="dcterms:W3CDTF">2026-04-27T22:15:05Z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theme">
    <vt:lpwstr>default</vt:lpwstr>
  </property>
</Properties>
</file>